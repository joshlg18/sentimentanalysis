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5" r:id="rId7"/>
    <p:sldId id="260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7"/>
    <p:restoredTop sz="58652"/>
  </p:normalViewPr>
  <p:slideViewPr>
    <p:cSldViewPr snapToGrid="0">
      <p:cViewPr varScale="1">
        <p:scale>
          <a:sx n="89" d="100"/>
          <a:sy n="89" d="100"/>
        </p:scale>
        <p:origin x="2272" y="168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BE176-52EA-034D-826A-FEDF29ABCF8B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95582-C46D-B14F-BB19-6B90E84B18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96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/>
              <a:t>- Have you ever wondered if news headlines can affect market dynamics?</a:t>
            </a:r>
          </a:p>
          <a:p>
            <a:r>
              <a:rPr lang="en-GB" sz="1800" dirty="0"/>
              <a:t>- It can be possible.</a:t>
            </a:r>
          </a:p>
          <a:p>
            <a:r>
              <a:rPr lang="en-GB" sz="1800" dirty="0"/>
              <a:t>- Today, I will show that with the right dataset and models, we could analyse this </a:t>
            </a:r>
          </a:p>
          <a:p>
            <a:r>
              <a:rPr lang="en-GB" sz="1800" dirty="0"/>
              <a:t>relationship.</a:t>
            </a:r>
          </a:p>
          <a:p>
            <a:r>
              <a:rPr lang="en-GB" sz="1800" dirty="0"/>
              <a:t>- Let's dive in!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012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Okay, so here's the thing. Traditional financial models are all about numbers—stock prices, </a:t>
            </a:r>
          </a:p>
          <a:p>
            <a:r>
              <a:rPr lang="en-GB" dirty="0"/>
              <a:t>economic data, GDP, all that quantitative data. However, there's a problem: they lack emotion. </a:t>
            </a:r>
          </a:p>
          <a:p>
            <a:r>
              <a:rPr lang="en-GB" dirty="0"/>
              <a:t>News headlines shape how investors feel, and emotions literally drive market movements.</a:t>
            </a:r>
          </a:p>
          <a:p>
            <a:endParaRPr lang="en-GB" dirty="0"/>
          </a:p>
          <a:p>
            <a:r>
              <a:rPr lang="en-GB" dirty="0"/>
              <a:t>Now, people have studied social media sentiment before. Twitter vibes, Reddit posts. </a:t>
            </a:r>
          </a:p>
          <a:p>
            <a:r>
              <a:rPr lang="en-GB" dirty="0"/>
              <a:t>But financial news headlines? That's actually been less researched, even though it matters</a:t>
            </a:r>
          </a:p>
          <a:p>
            <a:r>
              <a:rPr lang="en-GB" dirty="0"/>
              <a:t>way more. It's more official, more trusted.</a:t>
            </a:r>
          </a:p>
          <a:p>
            <a:endParaRPr lang="en-GB" dirty="0"/>
          </a:p>
          <a:p>
            <a:r>
              <a:rPr lang="en-GB" dirty="0"/>
              <a:t>Here's where it gets interesting: traditional machine learning methods. You have to decide what words matter. That's hard, especially</a:t>
            </a:r>
          </a:p>
          <a:p>
            <a:r>
              <a:rPr lang="en-GB" dirty="0"/>
              <a:t>in finance, where language is subtle and nuanced.</a:t>
            </a:r>
          </a:p>
          <a:p>
            <a:endParaRPr lang="en-GB" dirty="0"/>
          </a:p>
          <a:p>
            <a:r>
              <a:rPr lang="en-GB" dirty="0"/>
              <a:t>But deep learning? Models like LSTMs and Transformers can automatically learn what matters. </a:t>
            </a:r>
          </a:p>
          <a:p>
            <a:r>
              <a:rPr lang="en-GB" dirty="0"/>
              <a:t>They find patterns you wouldn't think to look for. And FinBERT—which is BERT trained specifically</a:t>
            </a:r>
          </a:p>
          <a:p>
            <a:r>
              <a:rPr lang="en-GB" dirty="0"/>
              <a:t>on financial text—is even better. It already understands finance.</a:t>
            </a:r>
          </a:p>
          <a:p>
            <a:endParaRPr lang="en-GB" dirty="0"/>
          </a:p>
          <a:p>
            <a:r>
              <a:rPr lang="en-GB" dirty="0"/>
              <a:t>But here's my question: if FinBERT is already so good, does adding a more complex architecture on top actually help with classification? </a:t>
            </a:r>
          </a:p>
          <a:p>
            <a:r>
              <a:rPr lang="en-GB" dirty="0"/>
              <a:t>Or do you just get slightly better results for way more compute?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613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this project, perfect for these neural models, called </a:t>
            </a:r>
            <a:r>
              <a:rPr lang="en-GB" dirty="0" err="1"/>
              <a:t>HuggingFace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- The dataset contains news headlines from various sources, along with their corresponding</a:t>
            </a:r>
          </a:p>
          <a:p>
            <a:r>
              <a:rPr lang="en-GB" dirty="0"/>
              <a:t>sentiment labels (positive, negative, neutral).</a:t>
            </a:r>
          </a:p>
          <a:p>
            <a:endParaRPr lang="en-GB" dirty="0"/>
          </a:p>
          <a:p>
            <a:r>
              <a:rPr lang="en-GB" dirty="0"/>
              <a:t>Here's the thing though: it's imbalanced. About 62.5% are neutral, 25% positive, 12.5% negative. </a:t>
            </a:r>
          </a:p>
          <a:p>
            <a:r>
              <a:rPr lang="en-GB" dirty="0"/>
              <a:t>That matters because models naturally get better at predicting the majority class. </a:t>
            </a:r>
          </a:p>
          <a:p>
            <a:r>
              <a:rPr lang="en-GB" dirty="0"/>
              <a:t>So right from the start, all models will be biased toward saying "neutral."</a:t>
            </a:r>
          </a:p>
          <a:p>
            <a:endParaRPr lang="en-GB" dirty="0"/>
          </a:p>
          <a:p>
            <a:r>
              <a:rPr lang="en-GB" dirty="0"/>
              <a:t>The task is straightforward: predict sentiment. Given a headline, classify it as positive, negative,</a:t>
            </a:r>
          </a:p>
          <a:p>
            <a:r>
              <a:rPr lang="en-GB" dirty="0"/>
              <a:t>or neutral. That's multi-class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614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When completing natural language processing, the first step is to transform the text data into </a:t>
            </a:r>
          </a:p>
          <a:p>
            <a:r>
              <a:rPr lang="en-GB" dirty="0"/>
              <a:t>a form that these networks can understand. The main way we did this was using FinBERT,</a:t>
            </a:r>
          </a:p>
          <a:p>
            <a:r>
              <a:rPr lang="en-GB" dirty="0"/>
              <a:t>which is a pre-trained language model specifically designed for financial text. As well as using </a:t>
            </a:r>
          </a:p>
          <a:p>
            <a:r>
              <a:rPr lang="en-GB" dirty="0"/>
              <a:t>TF-IDF vectorization for baseline.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Next, is where the fun starts - the models!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485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We experimented with several neural network architectures, including:</a:t>
            </a:r>
          </a:p>
          <a:p>
            <a:r>
              <a:rPr lang="en-GB" dirty="0"/>
              <a:t>    - MLP (Multilayer Perceptron)</a:t>
            </a:r>
          </a:p>
          <a:p>
            <a:r>
              <a:rPr lang="en-GB" dirty="0"/>
              <a:t>    - LSTM (Long Short-Term Memory)</a:t>
            </a:r>
          </a:p>
          <a:p>
            <a:r>
              <a:rPr lang="en-GB" dirty="0"/>
              <a:t>    - and a Transformer model.</a:t>
            </a:r>
          </a:p>
          <a:p>
            <a:pPr algn="l"/>
            <a:r>
              <a:rPr lang="en-GB" dirty="0"/>
              <a:t>And a baseline </a:t>
            </a:r>
            <a:r>
              <a:rPr lang="en-GB" dirty="0" err="1"/>
              <a:t>tf-idf</a:t>
            </a:r>
            <a:r>
              <a:rPr lang="en-GB" dirty="0"/>
              <a:t> with LR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373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A35A-93D5-439F-538B-ACFDAAF31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70128-9E9B-BE9F-D50A-5E5DCD56B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67253-16C1-7CEE-8AF5-FDD97F52C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Each model gave a different approach to learning patterns in the text data.</a:t>
            </a:r>
          </a:p>
          <a:p>
            <a:r>
              <a:rPr lang="en-GB" dirty="0"/>
              <a:t>but ultimately, outputted a sentiment prediction for each headline.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- As you can see the models get more complex as we go along, but does that mean better performance?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C5484-8619-FFDC-D1D3-D7D4C885F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2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Does </a:t>
            </a:r>
            <a:r>
              <a:rPr lang="en-GB" dirty="0" err="1"/>
              <a:t>compleixty</a:t>
            </a:r>
            <a:r>
              <a:rPr lang="en-GB" dirty="0"/>
              <a:t> actually = more accuracy, the short answer is yes if we look at the accuracy row of the table we can see that accuracy increases as we move up the </a:t>
            </a:r>
            <a:r>
              <a:rPr lang="en-GB" dirty="0" err="1"/>
              <a:t>moels</a:t>
            </a:r>
            <a:endParaRPr lang="en-GB" dirty="0"/>
          </a:p>
          <a:p>
            <a:r>
              <a:rPr lang="en-GB" dirty="0"/>
              <a:t>But look at how much we gain at each step. Going from Logistic Regression to MLP?</a:t>
            </a:r>
          </a:p>
          <a:p>
            <a:r>
              <a:rPr lang="en-GB" dirty="0"/>
              <a:t> 2.8 percentage points. LSTM to Transformer? Only 0.6 points.</a:t>
            </a:r>
          </a:p>
          <a:p>
            <a:endParaRPr lang="en-GB" dirty="0"/>
          </a:p>
          <a:p>
            <a:r>
              <a:rPr lang="en-GB" dirty="0"/>
              <a:t>That's the key insight. </a:t>
            </a:r>
          </a:p>
          <a:p>
            <a:r>
              <a:rPr lang="en-GB" dirty="0"/>
              <a:t>More complexity doesn't mean proportionally more accuracy, potentially due to dataset size being the limiting </a:t>
            </a:r>
          </a:p>
          <a:p>
            <a:r>
              <a:rPr lang="en-GB" dirty="0"/>
              <a:t>factor.</a:t>
            </a:r>
          </a:p>
          <a:p>
            <a:endParaRPr lang="en-GB" dirty="0"/>
          </a:p>
          <a:p>
            <a:r>
              <a:rPr lang="en-GB" dirty="0"/>
              <a:t>Look at those confusion matrices on the right. They tell the story of dataset imbalance and bias</a:t>
            </a:r>
          </a:p>
          <a:p>
            <a:endParaRPr lang="en-GB" dirty="0"/>
          </a:p>
          <a:p>
            <a:r>
              <a:rPr lang="en-GB" dirty="0"/>
              <a:t>the black boxes right in the </a:t>
            </a:r>
            <a:r>
              <a:rPr lang="en-GB" dirty="0" err="1"/>
              <a:t>center</a:t>
            </a:r>
            <a:r>
              <a:rPr lang="en-GB" dirty="0"/>
              <a:t> of each matrix? That's neutral sentiment. </a:t>
            </a:r>
          </a:p>
          <a:p>
            <a:r>
              <a:rPr lang="en-GB" dirty="0"/>
              <a:t>The models got really good at predicting neutral. Why? Because 62.5% of the data is neutral. </a:t>
            </a:r>
          </a:p>
          <a:p>
            <a:r>
              <a:rPr lang="en-GB" dirty="0"/>
              <a:t>The models learned that's the safe prediction.</a:t>
            </a:r>
          </a:p>
          <a:p>
            <a:endParaRPr lang="en-GB" dirty="0"/>
          </a:p>
          <a:p>
            <a:r>
              <a:rPr lang="en-GB" dirty="0"/>
              <a:t>Now look at the edges—top left and bottom right. Those areas are much lighter.</a:t>
            </a:r>
          </a:p>
          <a:p>
            <a:r>
              <a:rPr lang="en-GB" dirty="0"/>
              <a:t>That's negative and positive sentiment. The models made more mistakes there.</a:t>
            </a:r>
          </a:p>
          <a:p>
            <a:endParaRPr lang="en-GB" dirty="0"/>
          </a:p>
          <a:p>
            <a:r>
              <a:rPr lang="en-GB" dirty="0"/>
              <a:t>So here's the answer to this question: Yes, bias and imbalance heavily affect performance. </a:t>
            </a:r>
          </a:p>
          <a:p>
            <a:r>
              <a:rPr lang="en-GB" dirty="0"/>
              <a:t>The models are biased toward the majority class because that's what's dominant in the data.</a:t>
            </a:r>
          </a:p>
          <a:p>
            <a:r>
              <a:rPr lang="en-GB" dirty="0"/>
              <a:t> But that bias also means they're worse at the minority classes, which is also reflected in the F1 scores</a:t>
            </a:r>
          </a:p>
          <a:p>
            <a:endParaRPr lang="en-GB" dirty="0"/>
          </a:p>
          <a:p>
            <a:r>
              <a:rPr lang="en-GB" dirty="0"/>
              <a:t>Now look at the bottom of the table: training time.</a:t>
            </a:r>
          </a:p>
          <a:p>
            <a:endParaRPr lang="en-GB" dirty="0"/>
          </a:p>
          <a:p>
            <a:r>
              <a:rPr lang="en-GB" dirty="0"/>
              <a:t>So Logistic Regression trains in less than a tenth of a minute. The neural models? 32 to 35 minutes. </a:t>
            </a:r>
          </a:p>
          <a:p>
            <a:r>
              <a:rPr lang="en-GB" dirty="0"/>
              <a:t>That's 570 to 620 times longer.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Now the question is asking: is training time less important than accuracy? Or should we trade compute for performance?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Here's the honest answer: it depends.</a:t>
            </a:r>
          </a:p>
          <a:p>
            <a:endParaRPr lang="en-GB" dirty="0"/>
          </a:p>
          <a:p>
            <a:r>
              <a:rPr lang="en-GB" dirty="0"/>
              <a:t>If you need the best possible accuracy and you can afford the compute time?</a:t>
            </a:r>
          </a:p>
          <a:p>
            <a:r>
              <a:rPr lang="en-GB" dirty="0"/>
              <a:t> Then Transformer at 90.3% is worth the extra 35 minutes.</a:t>
            </a:r>
          </a:p>
          <a:p>
            <a:endParaRPr lang="en-GB" dirty="0"/>
          </a:p>
          <a:p>
            <a:r>
              <a:rPr lang="en-GB" dirty="0"/>
              <a:t>But if you're thinking practically? MLP gets you 88.2% accuracy in 32.6 minutes. </a:t>
            </a:r>
          </a:p>
          <a:p>
            <a:r>
              <a:rPr lang="en-GB" dirty="0"/>
              <a:t>That's pretty good. For most real-world applications, that might be enough. </a:t>
            </a:r>
          </a:p>
          <a:p>
            <a:endParaRPr lang="en-GB" dirty="0"/>
          </a:p>
          <a:p>
            <a:r>
              <a:rPr lang="en-GB" dirty="0"/>
              <a:t>Or if you need speed above all else? Logistic Regression is done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78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Before I wrap up, I want to be real about the limitations because they're important.</a:t>
            </a:r>
          </a:p>
          <a:p>
            <a:endParaRPr lang="en-GB" dirty="0"/>
          </a:p>
          <a:p>
            <a:r>
              <a:rPr lang="en-GB" dirty="0"/>
              <a:t>Limitation one: Data imbalance.</a:t>
            </a:r>
          </a:p>
          <a:p>
            <a:r>
              <a:rPr lang="en-GB" dirty="0"/>
              <a:t>62.5% neutral skews everything. All models learned to exploit this. </a:t>
            </a:r>
          </a:p>
          <a:p>
            <a:endParaRPr lang="en-GB" dirty="0"/>
          </a:p>
          <a:p>
            <a:r>
              <a:rPr lang="en-GB" dirty="0"/>
              <a:t>Limitation two: I only trained each model once.</a:t>
            </a:r>
          </a:p>
          <a:p>
            <a:r>
              <a:rPr lang="en-GB" dirty="0"/>
              <a:t>With computational constraints, I couldn't run multiple training sessions with </a:t>
            </a:r>
          </a:p>
          <a:p>
            <a:r>
              <a:rPr lang="en-GB" dirty="0"/>
              <a:t>different random seeds. So I can't say definitively whether differences are real or just random. </a:t>
            </a:r>
          </a:p>
          <a:p>
            <a:endParaRPr lang="en-GB" dirty="0"/>
          </a:p>
          <a:p>
            <a:r>
              <a:rPr lang="en-GB" dirty="0"/>
              <a:t>Limitation three: I used frozen FinBERT.</a:t>
            </a:r>
          </a:p>
          <a:p>
            <a:r>
              <a:rPr lang="en-GB" dirty="0"/>
              <a:t>I didn't fine-tune it on my data. That was a practical choice—saves time and memory, </a:t>
            </a:r>
          </a:p>
          <a:p>
            <a:r>
              <a:rPr lang="en-GB" dirty="0"/>
              <a:t>and it prevented overfitting on imbalanced data. But it meant the model couldn't adapt to</a:t>
            </a:r>
          </a:p>
          <a:p>
            <a:r>
              <a:rPr lang="en-GB" dirty="0"/>
              <a:t>the specific quirks of financial news. </a:t>
            </a:r>
          </a:p>
          <a:p>
            <a:endParaRPr lang="en-GB" dirty="0"/>
          </a:p>
          <a:p>
            <a:r>
              <a:rPr lang="en-GB" dirty="0"/>
              <a:t>But here's the good news: these limitations point to exactly what should happen next.</a:t>
            </a:r>
          </a:p>
          <a:p>
            <a:endParaRPr lang="en-GB" dirty="0"/>
          </a:p>
          <a:p>
            <a:r>
              <a:rPr lang="en-GB" dirty="0"/>
              <a:t>To improve the dataset imbalance, techniques like data augmentation or synthetic data generation</a:t>
            </a:r>
          </a:p>
          <a:p>
            <a:r>
              <a:rPr lang="en-GB" dirty="0"/>
              <a:t>could help. Or collecting more negative sentiment headlines.</a:t>
            </a:r>
          </a:p>
          <a:p>
            <a:endParaRPr lang="en-GB" dirty="0"/>
          </a:p>
          <a:p>
            <a:r>
              <a:rPr lang="en-GB" dirty="0"/>
              <a:t>For the training variability, running multiple experiments with different seeds would give</a:t>
            </a:r>
          </a:p>
          <a:p>
            <a:r>
              <a:rPr lang="en-GB" dirty="0"/>
              <a:t>more robust results, allowing for statistical significance testing.</a:t>
            </a:r>
          </a:p>
          <a:p>
            <a:endParaRPr lang="en-GB" dirty="0"/>
          </a:p>
          <a:p>
            <a:r>
              <a:rPr lang="en-GB" dirty="0"/>
              <a:t>And finally, fine-tuning FinBERT on this specific dataset could unlock better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95582-C46D-B14F-BB19-6B90E84B186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84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6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5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4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7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9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4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4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5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0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0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2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86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2.m4a"/><Relationship Id="rId7" Type="http://schemas.openxmlformats.org/officeDocument/2006/relationships/image" Target="../media/image4.png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7" Type="http://schemas.openxmlformats.org/officeDocument/2006/relationships/image" Target="../media/image2.png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7.m4a"/><Relationship Id="rId7" Type="http://schemas.openxmlformats.org/officeDocument/2006/relationships/image" Target="../media/image7.png"/><Relationship Id="rId2" Type="http://schemas.microsoft.com/office/2007/relationships/media" Target="../media/media7.m4a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5BB63-43C1-4CBD-15AD-35CACC051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1676" y="1298899"/>
            <a:ext cx="5825448" cy="3790238"/>
          </a:xfrm>
        </p:spPr>
        <p:txBody>
          <a:bodyPr>
            <a:noAutofit/>
          </a:bodyPr>
          <a:lstStyle/>
          <a:p>
            <a:r>
              <a:rPr lang="en-GB" sz="4800" dirty="0"/>
              <a:t>Neural Architectures in Financial News sentiment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55A94-5D5B-13EE-18E2-421471D4B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3776" y="5089137"/>
            <a:ext cx="5322013" cy="1005657"/>
          </a:xfrm>
        </p:spPr>
        <p:txBody>
          <a:bodyPr>
            <a:normAutofit/>
          </a:bodyPr>
          <a:lstStyle/>
          <a:p>
            <a:r>
              <a:rPr lang="en-GB" dirty="0"/>
              <a:t>Student No – 720017170</a:t>
            </a:r>
          </a:p>
        </p:txBody>
      </p:sp>
      <p:pic>
        <p:nvPicPr>
          <p:cNvPr id="4" name="Picture 3" descr="Network connection abstract against a white background">
            <a:extLst>
              <a:ext uri="{FF2B5EF4-FFF2-40B4-BE49-F238E27FC236}">
                <a16:creationId xmlns:a16="http://schemas.microsoft.com/office/drawing/2014/main" id="{67FB8B99-FE9E-1048-5981-12C385AE44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39" r="50294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Audio 79">
            <a:extLst>
              <a:ext uri="{FF2B5EF4-FFF2-40B4-BE49-F238E27FC236}">
                <a16:creationId xmlns:a16="http://schemas.microsoft.com/office/drawing/2014/main" id="{DE238988-00F8-06FB-B201-1905275CEF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71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75"/>
    </mc:Choice>
    <mc:Fallback>
      <p:transition spd="slow" advTm="137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0FE9-841B-EEEA-E365-DA56C896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67817"/>
            <a:ext cx="7824945" cy="809297"/>
          </a:xfrm>
        </p:spPr>
        <p:txBody>
          <a:bodyPr/>
          <a:lstStyle/>
          <a:p>
            <a:r>
              <a:rPr lang="en-GB" dirty="0"/>
              <a:t>Background</a:t>
            </a:r>
          </a:p>
        </p:txBody>
      </p:sp>
      <p:pic>
        <p:nvPicPr>
          <p:cNvPr id="4" name="Picture 2" descr="Stock graph technology background It is a technology that shows the growth  price of a company on the stock market, increasing the attractiveness of  investors. Green and red charts along with bars">
            <a:extLst>
              <a:ext uri="{FF2B5EF4-FFF2-40B4-BE49-F238E27FC236}">
                <a16:creationId xmlns:a16="http://schemas.microsoft.com/office/drawing/2014/main" id="{F18E5981-0E28-4B59-916C-5E511F52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525" y="747864"/>
            <a:ext cx="3558228" cy="2513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E6A97C-58A0-C108-5460-6A17A102C9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8956" y="3268663"/>
            <a:ext cx="3509366" cy="28217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0C5A4F-A395-E3E1-0184-A9FC05B3FCF4}"/>
              </a:ext>
            </a:extLst>
          </p:cNvPr>
          <p:cNvSpPr txBox="1"/>
          <p:nvPr/>
        </p:nvSpPr>
        <p:spPr>
          <a:xfrm>
            <a:off x="576452" y="4171692"/>
            <a:ext cx="77340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Aim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Evaluate Deep Learning Methods For Sentiment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Does Increasing Model Complexity Increase Accuracy?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3D2F3C-0A76-F9E7-643C-DD3CF50C8944}"/>
              </a:ext>
            </a:extLst>
          </p:cNvPr>
          <p:cNvSpPr/>
          <p:nvPr/>
        </p:nvSpPr>
        <p:spPr>
          <a:xfrm>
            <a:off x="365230" y="2004531"/>
            <a:ext cx="2093963" cy="1329666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06F0D1-2D55-511D-34AE-DCA502BF7FBC}"/>
              </a:ext>
            </a:extLst>
          </p:cNvPr>
          <p:cNvGrpSpPr/>
          <p:nvPr/>
        </p:nvGrpSpPr>
        <p:grpSpPr>
          <a:xfrm>
            <a:off x="462088" y="2094501"/>
            <a:ext cx="2093963" cy="1329666"/>
            <a:chOff x="232662" y="918693"/>
            <a:chExt cx="2093963" cy="132966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11A788B-047C-F349-7D66-BB689DC00EEE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Rounded Rectangle 5">
              <a:extLst>
                <a:ext uri="{FF2B5EF4-FFF2-40B4-BE49-F238E27FC236}">
                  <a16:creationId xmlns:a16="http://schemas.microsoft.com/office/drawing/2014/main" id="{75FE1DD0-7B6B-5010-2DEB-5FA3D25B2B39}"/>
                </a:ext>
              </a:extLst>
            </p:cNvPr>
            <p:cNvSpPr txBox="1"/>
            <p:nvPr/>
          </p:nvSpPr>
          <p:spPr>
            <a:xfrm>
              <a:off x="275799" y="996583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 dirty="0"/>
                <a:t>Traditional Stock Market Analysis – Based on Quantitative Data</a:t>
              </a:r>
              <a:endParaRPr lang="en-US" sz="1900" kern="1200" dirty="0"/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915334C-C9CB-014E-29A3-C7C02B5CD0B4}"/>
              </a:ext>
            </a:extLst>
          </p:cNvPr>
          <p:cNvSpPr/>
          <p:nvPr/>
        </p:nvSpPr>
        <p:spPr>
          <a:xfrm>
            <a:off x="3184426" y="2021502"/>
            <a:ext cx="2093963" cy="1329666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4E0152-4E53-F121-21BF-E2C541145F10}"/>
              </a:ext>
            </a:extLst>
          </p:cNvPr>
          <p:cNvGrpSpPr/>
          <p:nvPr/>
        </p:nvGrpSpPr>
        <p:grpSpPr>
          <a:xfrm>
            <a:off x="3281284" y="2111445"/>
            <a:ext cx="2093963" cy="1329666"/>
            <a:chOff x="2791951" y="918693"/>
            <a:chExt cx="2093963" cy="1329666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CD527A40-03FE-34A6-C290-A44715C9004B}"/>
                </a:ext>
              </a:extLst>
            </p:cNvPr>
            <p:cNvSpPr/>
            <p:nvPr/>
          </p:nvSpPr>
          <p:spPr>
            <a:xfrm>
              <a:off x="2791951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ounded Rectangle 5">
              <a:extLst>
                <a:ext uri="{FF2B5EF4-FFF2-40B4-BE49-F238E27FC236}">
                  <a16:creationId xmlns:a16="http://schemas.microsoft.com/office/drawing/2014/main" id="{DB0F02C8-F05C-CF9B-C338-95CFAFAA1BDA}"/>
                </a:ext>
              </a:extLst>
            </p:cNvPr>
            <p:cNvSpPr txBox="1"/>
            <p:nvPr/>
          </p:nvSpPr>
          <p:spPr>
            <a:xfrm>
              <a:off x="2830896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/>
                <a:t>ML Methods Limited</a:t>
              </a:r>
              <a:endParaRPr lang="en-US" sz="1900" kern="1200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73250B-040D-16DC-8705-A644E75EF6E2}"/>
              </a:ext>
            </a:extLst>
          </p:cNvPr>
          <p:cNvSpPr/>
          <p:nvPr/>
        </p:nvSpPr>
        <p:spPr>
          <a:xfrm>
            <a:off x="6003623" y="2004531"/>
            <a:ext cx="2093963" cy="1329666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C73DA7-FCCC-2940-566D-5B022B8D1F59}"/>
              </a:ext>
            </a:extLst>
          </p:cNvPr>
          <p:cNvGrpSpPr/>
          <p:nvPr/>
        </p:nvGrpSpPr>
        <p:grpSpPr>
          <a:xfrm>
            <a:off x="6100480" y="2072500"/>
            <a:ext cx="2093963" cy="1329666"/>
            <a:chOff x="5351239" y="918693"/>
            <a:chExt cx="2093963" cy="1329666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97A7E714-74E3-5782-EC66-0C020F5A23A7}"/>
                </a:ext>
              </a:extLst>
            </p:cNvPr>
            <p:cNvSpPr/>
            <p:nvPr/>
          </p:nvSpPr>
          <p:spPr>
            <a:xfrm>
              <a:off x="5351239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ounded Rectangle 5">
              <a:extLst>
                <a:ext uri="{FF2B5EF4-FFF2-40B4-BE49-F238E27FC236}">
                  <a16:creationId xmlns:a16="http://schemas.microsoft.com/office/drawing/2014/main" id="{E0AD87B6-7B51-4F9C-B048-794C7495F82A}"/>
                </a:ext>
              </a:extLst>
            </p:cNvPr>
            <p:cNvSpPr txBox="1"/>
            <p:nvPr/>
          </p:nvSpPr>
          <p:spPr>
            <a:xfrm>
              <a:off x="5390184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900" kern="1200"/>
                <a:t>Deep Learning – Neural Architectures</a:t>
              </a:r>
              <a:endParaRPr lang="en-US" sz="1900" kern="120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A8285F1-9E94-016D-C8D2-81A7B2EC2C73}"/>
              </a:ext>
            </a:extLst>
          </p:cNvPr>
          <p:cNvSpPr txBox="1"/>
          <p:nvPr/>
        </p:nvSpPr>
        <p:spPr>
          <a:xfrm>
            <a:off x="11652739" y="60901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dirty="0"/>
              <a:t>[2]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C4540E-C1FE-C998-F0EE-C1A0DD314021}"/>
              </a:ext>
            </a:extLst>
          </p:cNvPr>
          <p:cNvSpPr txBox="1"/>
          <p:nvPr/>
        </p:nvSpPr>
        <p:spPr>
          <a:xfrm>
            <a:off x="11652739" y="333926"/>
            <a:ext cx="8874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[1]</a:t>
            </a:r>
            <a:endParaRPr lang="en-GB" dirty="0"/>
          </a:p>
        </p:txBody>
      </p:sp>
      <p:pic>
        <p:nvPicPr>
          <p:cNvPr id="65" name="Audio 64">
            <a:extLst>
              <a:ext uri="{FF2B5EF4-FFF2-40B4-BE49-F238E27FC236}">
                <a16:creationId xmlns:a16="http://schemas.microsoft.com/office/drawing/2014/main" id="{411E8744-45DA-13A7-CC3D-C48BCEC9F9EB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4241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732"/>
    </mc:Choice>
    <mc:Fallback>
      <p:transition spd="slow" advTm="787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</p:childTnLst>
        </p:cTn>
      </p:par>
    </p:tnLst>
    <p:bldLst>
      <p:bldP spid="7" grpId="0"/>
      <p:bldP spid="7" grpId="1"/>
      <p:bldP spid="8" grpId="0" animBg="1"/>
      <p:bldP spid="13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CFD9C-A1F4-0B19-EF20-0BB45A31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92891"/>
            <a:ext cx="3721629" cy="761794"/>
          </a:xfrm>
        </p:spPr>
        <p:txBody>
          <a:bodyPr>
            <a:normAutofit/>
          </a:bodyPr>
          <a:lstStyle/>
          <a:p>
            <a:r>
              <a:rPr lang="en-GB" dirty="0"/>
              <a:t>Dataset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0E11B5C-6014-059E-3455-5CCB39A079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1" b="8812"/>
          <a:stretch>
            <a:fillRect/>
          </a:stretch>
        </p:blipFill>
        <p:spPr>
          <a:xfrm>
            <a:off x="4970315" y="1827024"/>
            <a:ext cx="7221686" cy="3243236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5597D9-171A-14F6-88CF-081DE071B466}"/>
              </a:ext>
            </a:extLst>
          </p:cNvPr>
          <p:cNvSpPr/>
          <p:nvPr/>
        </p:nvSpPr>
        <p:spPr>
          <a:xfrm>
            <a:off x="150406" y="1215740"/>
            <a:ext cx="4342494" cy="1329666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AD37EAB-2ABE-6972-3916-C61AB954A88A}"/>
              </a:ext>
            </a:extLst>
          </p:cNvPr>
          <p:cNvGrpSpPr/>
          <p:nvPr/>
        </p:nvGrpSpPr>
        <p:grpSpPr>
          <a:xfrm>
            <a:off x="243920" y="1306782"/>
            <a:ext cx="4342494" cy="1329666"/>
            <a:chOff x="232662" y="918693"/>
            <a:chExt cx="2093963" cy="132966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AFE88B1-B330-82A2-71A2-539314D492C5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ounded Rectangle 5">
              <a:extLst>
                <a:ext uri="{FF2B5EF4-FFF2-40B4-BE49-F238E27FC236}">
                  <a16:creationId xmlns:a16="http://schemas.microsoft.com/office/drawing/2014/main" id="{8D8CFCEE-988D-B76B-90A6-8EDE1AD40498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/>
                <a:t>English Financial </a:t>
              </a:r>
              <a:r>
                <a:rPr lang="en-US" sz="1900" dirty="0"/>
                <a:t>News [3]</a:t>
              </a:r>
              <a:endParaRPr lang="en-US" sz="1900" kern="1200" dirty="0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5710A8-28AD-202B-3C81-E281964FC90D}"/>
              </a:ext>
            </a:extLst>
          </p:cNvPr>
          <p:cNvSpPr/>
          <p:nvPr/>
        </p:nvSpPr>
        <p:spPr>
          <a:xfrm>
            <a:off x="185315" y="3151008"/>
            <a:ext cx="4342494" cy="1329666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2E55C6-3D77-FB28-3A11-0BFACB8D9B71}"/>
              </a:ext>
            </a:extLst>
          </p:cNvPr>
          <p:cNvGrpSpPr/>
          <p:nvPr/>
        </p:nvGrpSpPr>
        <p:grpSpPr>
          <a:xfrm>
            <a:off x="278829" y="3261523"/>
            <a:ext cx="4342494" cy="1329666"/>
            <a:chOff x="232662" y="918693"/>
            <a:chExt cx="2093963" cy="1329666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D49D277-E894-5AC7-BE70-4722407A5AAC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ounded Rectangle 5">
              <a:extLst>
                <a:ext uri="{FF2B5EF4-FFF2-40B4-BE49-F238E27FC236}">
                  <a16:creationId xmlns:a16="http://schemas.microsoft.com/office/drawing/2014/main" id="{18EEEB1B-9BBA-AB38-E030-AA0E749B4684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27,000 Observations of Financial News Articles</a:t>
              </a:r>
            </a:p>
          </p:txBody>
        </p: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FD13D84-09E3-DC75-AE34-4E790AFB521F}"/>
              </a:ext>
            </a:extLst>
          </p:cNvPr>
          <p:cNvSpPr/>
          <p:nvPr/>
        </p:nvSpPr>
        <p:spPr>
          <a:xfrm>
            <a:off x="185315" y="4945273"/>
            <a:ext cx="4342494" cy="1329666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32BB4BE-15E5-330B-0632-617B94301BB7}"/>
              </a:ext>
            </a:extLst>
          </p:cNvPr>
          <p:cNvGrpSpPr/>
          <p:nvPr/>
        </p:nvGrpSpPr>
        <p:grpSpPr>
          <a:xfrm>
            <a:off x="267153" y="5016843"/>
            <a:ext cx="4342494" cy="1329666"/>
            <a:chOff x="232662" y="918693"/>
            <a:chExt cx="2093963" cy="1329666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2133C89-DA9C-6CF0-6290-9FC528CAB4DB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Rounded Rectangle 5">
              <a:extLst>
                <a:ext uri="{FF2B5EF4-FFF2-40B4-BE49-F238E27FC236}">
                  <a16:creationId xmlns:a16="http://schemas.microsoft.com/office/drawing/2014/main" id="{1105144D-FAAD-D216-1239-51A5612077E8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Imbalance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88FC99-C1CC-F445-B4B2-A38A30D5E8CE}"/>
              </a:ext>
            </a:extLst>
          </p:cNvPr>
          <p:cNvSpPr txBox="1"/>
          <p:nvPr/>
        </p:nvSpPr>
        <p:spPr>
          <a:xfrm>
            <a:off x="11774023" y="49816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200" dirty="0"/>
              <a:t>[3]</a:t>
            </a:r>
            <a:endParaRPr lang="en-GB" dirty="0"/>
          </a:p>
        </p:txBody>
      </p:sp>
      <p:pic>
        <p:nvPicPr>
          <p:cNvPr id="30" name="Audio 29">
            <a:extLst>
              <a:ext uri="{FF2B5EF4-FFF2-40B4-BE49-F238E27FC236}">
                <a16:creationId xmlns:a16="http://schemas.microsoft.com/office/drawing/2014/main" id="{7C52E09E-B48E-8373-40E0-7B7BBBC473E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9514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283"/>
    </mc:Choice>
    <mc:Fallback>
      <p:transition spd="slow" advTm="482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  <p:bldLst>
      <p:bldP spid="6" grpId="0" animBg="1"/>
      <p:bldP spid="12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C24D9-89F1-C000-7C56-5527D77D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32916"/>
            <a:ext cx="10691265" cy="789350"/>
          </a:xfrm>
        </p:spPr>
        <p:txBody>
          <a:bodyPr/>
          <a:lstStyle/>
          <a:p>
            <a:r>
              <a:rPr lang="en-GB" dirty="0"/>
              <a:t>Methods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DD87FD-8D51-7E89-0EC4-588DDD11696D}"/>
              </a:ext>
            </a:extLst>
          </p:cNvPr>
          <p:cNvSpPr/>
          <p:nvPr/>
        </p:nvSpPr>
        <p:spPr>
          <a:xfrm>
            <a:off x="255980" y="1468770"/>
            <a:ext cx="3107008" cy="1822963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4C6854-D2A9-4EE1-D4D3-7A7590712DFB}"/>
              </a:ext>
            </a:extLst>
          </p:cNvPr>
          <p:cNvGrpSpPr/>
          <p:nvPr/>
        </p:nvGrpSpPr>
        <p:grpSpPr>
          <a:xfrm>
            <a:off x="389023" y="1597460"/>
            <a:ext cx="3107008" cy="1822963"/>
            <a:chOff x="232662" y="918693"/>
            <a:chExt cx="2093963" cy="1329666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1BA8F23-6257-D37F-96C0-87AE44C95347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29076138-5A75-62AE-7908-C81F5F098228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Tokenization and Embeddings</a:t>
              </a:r>
              <a:endParaRPr lang="en-US" sz="2400" kern="1200" dirty="0"/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413C68B-E291-CD42-3905-7CA13AFE2DCD}"/>
              </a:ext>
            </a:extLst>
          </p:cNvPr>
          <p:cNvSpPr/>
          <p:nvPr/>
        </p:nvSpPr>
        <p:spPr>
          <a:xfrm>
            <a:off x="4471249" y="1468770"/>
            <a:ext cx="3107008" cy="1822963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7DC2EE-9BA5-43D2-709E-A2167B1D0DB3}"/>
              </a:ext>
            </a:extLst>
          </p:cNvPr>
          <p:cNvGrpSpPr/>
          <p:nvPr/>
        </p:nvGrpSpPr>
        <p:grpSpPr>
          <a:xfrm>
            <a:off x="4604292" y="1573385"/>
            <a:ext cx="3107008" cy="1822963"/>
            <a:chOff x="232662" y="918693"/>
            <a:chExt cx="2093963" cy="132966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0D29196-0FCC-B7C0-1B2E-5E5F4BAFFF58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35B0C843-151D-78A6-B8BE-C07749697E96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Models</a:t>
              </a:r>
              <a:endParaRPr lang="en-US" kern="1200" dirty="0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4F929D9-6156-A4BA-8638-A6D81F5893FE}"/>
              </a:ext>
            </a:extLst>
          </p:cNvPr>
          <p:cNvSpPr/>
          <p:nvPr/>
        </p:nvSpPr>
        <p:spPr>
          <a:xfrm>
            <a:off x="255981" y="3733791"/>
            <a:ext cx="3339669" cy="2198747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TF-IDF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FinBERT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73C0FC1-D0E1-2304-3446-0EBAA4B298BC}"/>
              </a:ext>
            </a:extLst>
          </p:cNvPr>
          <p:cNvSpPr/>
          <p:nvPr/>
        </p:nvSpPr>
        <p:spPr>
          <a:xfrm>
            <a:off x="4471249" y="3733791"/>
            <a:ext cx="3339670" cy="219874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Logistic 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MLP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LSTM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Transformer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D8A5D3-FEFA-D0B0-9B9C-96219C0B416F}"/>
              </a:ext>
            </a:extLst>
          </p:cNvPr>
          <p:cNvCxnSpPr>
            <a:cxnSpLocks/>
          </p:cNvCxnSpPr>
          <p:nvPr/>
        </p:nvCxnSpPr>
        <p:spPr>
          <a:xfrm>
            <a:off x="3664662" y="2441275"/>
            <a:ext cx="6744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Audio 44">
            <a:extLst>
              <a:ext uri="{FF2B5EF4-FFF2-40B4-BE49-F238E27FC236}">
                <a16:creationId xmlns:a16="http://schemas.microsoft.com/office/drawing/2014/main" id="{B5AE0B72-3BC5-6AA3-CBA7-CF48CBA8B36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1820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39"/>
    </mc:Choice>
    <mc:Fallback>
      <p:transition spd="slow" advTm="245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  <p:bldLst>
      <p:bldP spid="4" grpId="0" animBg="1"/>
      <p:bldP spid="8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C22B-36A6-537A-10ED-78F9D4CF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690123"/>
            <a:ext cx="2140288" cy="809698"/>
          </a:xfrm>
        </p:spPr>
        <p:txBody>
          <a:bodyPr>
            <a:normAutofit/>
          </a:bodyPr>
          <a:lstStyle/>
          <a:p>
            <a:r>
              <a:rPr lang="en-GB" dirty="0"/>
              <a:t>Models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B18662-5663-2A4D-12B6-B9C4C8E4FF1E}"/>
              </a:ext>
            </a:extLst>
          </p:cNvPr>
          <p:cNvSpPr/>
          <p:nvPr/>
        </p:nvSpPr>
        <p:spPr>
          <a:xfrm>
            <a:off x="2680379" y="845727"/>
            <a:ext cx="793420" cy="321678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861C2B-4BF4-FB82-7444-F56F13D5BEF5}"/>
              </a:ext>
            </a:extLst>
          </p:cNvPr>
          <p:cNvGrpSpPr/>
          <p:nvPr/>
        </p:nvGrpSpPr>
        <p:grpSpPr>
          <a:xfrm>
            <a:off x="2760651" y="914844"/>
            <a:ext cx="793420" cy="321678"/>
            <a:chOff x="232662" y="918693"/>
            <a:chExt cx="2093963" cy="1329666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1204FAF-DBC3-4C39-31C7-695DD6CEC5D7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2CDE9A87-6135-0CCF-9B6D-AF8C5B727FAE}"/>
                </a:ext>
              </a:extLst>
            </p:cNvPr>
            <p:cNvSpPr txBox="1"/>
            <p:nvPr/>
          </p:nvSpPr>
          <p:spPr>
            <a:xfrm>
              <a:off x="271608" y="957639"/>
              <a:ext cx="2016073" cy="12517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Model</a:t>
              </a:r>
              <a:endParaRPr lang="en-US" sz="1050" kern="1200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BB1BD4-7FF5-C443-51DE-6F59CAAFA3CB}"/>
              </a:ext>
            </a:extLst>
          </p:cNvPr>
          <p:cNvCxnSpPr>
            <a:cxnSpLocks/>
          </p:cNvCxnSpPr>
          <p:nvPr/>
        </p:nvCxnSpPr>
        <p:spPr>
          <a:xfrm>
            <a:off x="4129933" y="2049294"/>
            <a:ext cx="0" cy="37584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D1868C-046E-BD5C-72F5-81E9439EA9AA}"/>
              </a:ext>
            </a:extLst>
          </p:cNvPr>
          <p:cNvCxnSpPr>
            <a:cxnSpLocks/>
          </p:cNvCxnSpPr>
          <p:nvPr/>
        </p:nvCxnSpPr>
        <p:spPr>
          <a:xfrm>
            <a:off x="8072556" y="2049294"/>
            <a:ext cx="0" cy="37584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92AD1E-2FD4-B3F4-2635-36C3BFBB2A9C}"/>
              </a:ext>
            </a:extLst>
          </p:cNvPr>
          <p:cNvGrpSpPr/>
          <p:nvPr/>
        </p:nvGrpSpPr>
        <p:grpSpPr>
          <a:xfrm>
            <a:off x="700633" y="1718194"/>
            <a:ext cx="2922047" cy="321678"/>
            <a:chOff x="232662" y="918693"/>
            <a:chExt cx="2093963" cy="1329666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449C37E-268E-F9E1-53E8-2E5D31183DB0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Rounded Rectangle 5">
              <a:extLst>
                <a:ext uri="{FF2B5EF4-FFF2-40B4-BE49-F238E27FC236}">
                  <a16:creationId xmlns:a16="http://schemas.microsoft.com/office/drawing/2014/main" id="{15CC68E6-1A36-72E3-5B09-50E9BEDDD0E4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50" kern="1200" dirty="0"/>
                <a:t>Multi-Layer Perceptron (MLP)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A0188F-D803-300B-256F-3A5E0D072845}"/>
              </a:ext>
            </a:extLst>
          </p:cNvPr>
          <p:cNvGrpSpPr/>
          <p:nvPr/>
        </p:nvGrpSpPr>
        <p:grpSpPr>
          <a:xfrm>
            <a:off x="4634976" y="1718195"/>
            <a:ext cx="2922047" cy="321678"/>
            <a:chOff x="232662" y="918693"/>
            <a:chExt cx="2093963" cy="1329666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53A8591-82AA-5E5A-B4EB-2F98F5DE2289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5E74D840-CB85-4BD6-F89D-0E001DDA02F5}"/>
                </a:ext>
              </a:extLst>
            </p:cNvPr>
            <p:cNvSpPr txBox="1"/>
            <p:nvPr/>
          </p:nvSpPr>
          <p:spPr>
            <a:xfrm>
              <a:off x="310552" y="957635"/>
              <a:ext cx="2016073" cy="12517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50" kern="1200" dirty="0"/>
                <a:t>Long-Short Term Memory (LSTM)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89090A-CD6B-3170-ED18-901BD760CBB5}"/>
              </a:ext>
            </a:extLst>
          </p:cNvPr>
          <p:cNvGrpSpPr/>
          <p:nvPr/>
        </p:nvGrpSpPr>
        <p:grpSpPr>
          <a:xfrm>
            <a:off x="8569320" y="1727616"/>
            <a:ext cx="2922047" cy="321678"/>
            <a:chOff x="232662" y="918693"/>
            <a:chExt cx="2093963" cy="1329666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7DBEFCF0-03DF-3829-79E5-9F3CB3C45B60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ounded Rectangle 5">
              <a:extLst>
                <a:ext uri="{FF2B5EF4-FFF2-40B4-BE49-F238E27FC236}">
                  <a16:creationId xmlns:a16="http://schemas.microsoft.com/office/drawing/2014/main" id="{AF759A16-BF8A-2105-F247-E481BD20F298}"/>
                </a:ext>
              </a:extLst>
            </p:cNvPr>
            <p:cNvSpPr txBox="1"/>
            <p:nvPr/>
          </p:nvSpPr>
          <p:spPr>
            <a:xfrm>
              <a:off x="310552" y="957635"/>
              <a:ext cx="2016073" cy="12517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50" kern="1200" dirty="0"/>
                <a:t>Transformer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A91CD3-9F96-9F0D-F6DC-D9CAC052BAA5}"/>
              </a:ext>
            </a:extLst>
          </p:cNvPr>
          <p:cNvGrpSpPr/>
          <p:nvPr/>
        </p:nvGrpSpPr>
        <p:grpSpPr>
          <a:xfrm>
            <a:off x="4634976" y="6327350"/>
            <a:ext cx="2922047" cy="321678"/>
            <a:chOff x="232662" y="918693"/>
            <a:chExt cx="2093963" cy="1329666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300A46AB-F5DA-ED38-EE2A-40595C86C0D0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ounded Rectangle 5">
              <a:extLst>
                <a:ext uri="{FF2B5EF4-FFF2-40B4-BE49-F238E27FC236}">
                  <a16:creationId xmlns:a16="http://schemas.microsoft.com/office/drawing/2014/main" id="{0166DFC8-0949-B2E6-3561-FF2BC6EA7A13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50" dirty="0"/>
                <a:t>Baseline: TF-IDF + Logistic Regression</a:t>
              </a:r>
              <a:endParaRPr lang="en-US" sz="1050" kern="1200" dirty="0"/>
            </a:p>
          </p:txBody>
        </p:sp>
      </p:grp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709BBD5-320B-BD36-084C-880B31804B05}"/>
              </a:ext>
            </a:extLst>
          </p:cNvPr>
          <p:cNvSpPr/>
          <p:nvPr/>
        </p:nvSpPr>
        <p:spPr>
          <a:xfrm>
            <a:off x="502313" y="217810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FinBERT Embedding Layer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5D47E9E-FE5B-10F6-EA6A-19120AB3BC76}"/>
              </a:ext>
            </a:extLst>
          </p:cNvPr>
          <p:cNvSpPr/>
          <p:nvPr/>
        </p:nvSpPr>
        <p:spPr>
          <a:xfrm>
            <a:off x="4426164" y="2171124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FinBERT Embedding Layer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5A1D67C-F655-B8A1-59BF-81B401227267}"/>
              </a:ext>
            </a:extLst>
          </p:cNvPr>
          <p:cNvSpPr/>
          <p:nvPr/>
        </p:nvSpPr>
        <p:spPr>
          <a:xfrm>
            <a:off x="8360508" y="2171124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FinBERT Embedding Layer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675182D-9437-7CB8-DE6D-DB042F6963E6}"/>
              </a:ext>
            </a:extLst>
          </p:cNvPr>
          <p:cNvSpPr/>
          <p:nvPr/>
        </p:nvSpPr>
        <p:spPr>
          <a:xfrm>
            <a:off x="499279" y="281213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Hidden Layer 1 – with Dropout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3813368-1745-EA5D-D896-CFEEE6D8168C}"/>
              </a:ext>
            </a:extLst>
          </p:cNvPr>
          <p:cNvSpPr/>
          <p:nvPr/>
        </p:nvSpPr>
        <p:spPr>
          <a:xfrm>
            <a:off x="499280" y="344616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Hidden Layer 2 – with Dropout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3D74738-2100-08C3-C8D4-117AD550DAD8}"/>
              </a:ext>
            </a:extLst>
          </p:cNvPr>
          <p:cNvSpPr/>
          <p:nvPr/>
        </p:nvSpPr>
        <p:spPr>
          <a:xfrm>
            <a:off x="499280" y="408019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Hidden Layer 3 – with Dropout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E20D612-68D6-9569-C243-5748129AD360}"/>
              </a:ext>
            </a:extLst>
          </p:cNvPr>
          <p:cNvSpPr/>
          <p:nvPr/>
        </p:nvSpPr>
        <p:spPr>
          <a:xfrm>
            <a:off x="493158" y="471422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Normalisation Layer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8A7720F-951D-974C-4307-2DA55F9310FB}"/>
              </a:ext>
            </a:extLst>
          </p:cNvPr>
          <p:cNvSpPr/>
          <p:nvPr/>
        </p:nvSpPr>
        <p:spPr>
          <a:xfrm>
            <a:off x="493157" y="534825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Output Layer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BB27C27-3620-9694-F8E4-8EC49CBB0DFE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2169114" y="2568994"/>
            <a:ext cx="3034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6CDDD82-F35E-6E22-089C-AD3384FC1F81}"/>
              </a:ext>
            </a:extLst>
          </p:cNvPr>
          <p:cNvCxnSpPr/>
          <p:nvPr/>
        </p:nvCxnSpPr>
        <p:spPr>
          <a:xfrm>
            <a:off x="2165758" y="320302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6703C8-F30F-39A2-7B86-5F7B10180E17}"/>
              </a:ext>
            </a:extLst>
          </p:cNvPr>
          <p:cNvCxnSpPr>
            <a:cxnSpLocks/>
          </p:cNvCxnSpPr>
          <p:nvPr/>
        </p:nvCxnSpPr>
        <p:spPr>
          <a:xfrm>
            <a:off x="2162993" y="383705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0372D0-8B09-BB12-6564-9A95E6C7F858}"/>
              </a:ext>
            </a:extLst>
          </p:cNvPr>
          <p:cNvCxnSpPr/>
          <p:nvPr/>
        </p:nvCxnSpPr>
        <p:spPr>
          <a:xfrm>
            <a:off x="2162993" y="447108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798CB2-9BE8-FF42-30B4-95562D431BE2}"/>
              </a:ext>
            </a:extLst>
          </p:cNvPr>
          <p:cNvCxnSpPr>
            <a:cxnSpLocks/>
          </p:cNvCxnSpPr>
          <p:nvPr/>
        </p:nvCxnSpPr>
        <p:spPr>
          <a:xfrm>
            <a:off x="2182639" y="510511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0FA2649-011A-A7FA-673C-7E151FF7D021}"/>
              </a:ext>
            </a:extLst>
          </p:cNvPr>
          <p:cNvSpPr/>
          <p:nvPr/>
        </p:nvSpPr>
        <p:spPr>
          <a:xfrm>
            <a:off x="4438546" y="281213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 BiLSTM Layers 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A0BCD9B-1A69-8AF8-3A9D-9FBFAE52107F}"/>
              </a:ext>
            </a:extLst>
          </p:cNvPr>
          <p:cNvCxnSpPr/>
          <p:nvPr/>
        </p:nvCxnSpPr>
        <p:spPr>
          <a:xfrm>
            <a:off x="10038900" y="256899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633A8BF-71FC-2CF6-8069-470F8CB02F74}"/>
              </a:ext>
            </a:extLst>
          </p:cNvPr>
          <p:cNvSpPr/>
          <p:nvPr/>
        </p:nvSpPr>
        <p:spPr>
          <a:xfrm>
            <a:off x="4444935" y="3453148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Normalisation Layer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20A4E16-A5D8-0738-1D37-4900AF2EB0B9}"/>
              </a:ext>
            </a:extLst>
          </p:cNvPr>
          <p:cNvSpPr/>
          <p:nvPr/>
        </p:nvSpPr>
        <p:spPr>
          <a:xfrm>
            <a:off x="4438546" y="4089618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Attention Layer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1B0C8D3-F400-B9CF-3CD3-52701A2983D1}"/>
              </a:ext>
            </a:extLst>
          </p:cNvPr>
          <p:cNvSpPr/>
          <p:nvPr/>
        </p:nvSpPr>
        <p:spPr>
          <a:xfrm>
            <a:off x="4426164" y="4730630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Fully Connected Layer – With Dropout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1059FF1-D5B9-F2F3-9D11-B41C303019CB}"/>
              </a:ext>
            </a:extLst>
          </p:cNvPr>
          <p:cNvCxnSpPr/>
          <p:nvPr/>
        </p:nvCxnSpPr>
        <p:spPr>
          <a:xfrm>
            <a:off x="6150346" y="3204772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8F503B1-8D01-8488-7420-B8A646DDBF0E}"/>
              </a:ext>
            </a:extLst>
          </p:cNvPr>
          <p:cNvCxnSpPr/>
          <p:nvPr/>
        </p:nvCxnSpPr>
        <p:spPr>
          <a:xfrm>
            <a:off x="6150346" y="383705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F5F81C2-5406-59FD-35AC-11FE219CBC7A}"/>
              </a:ext>
            </a:extLst>
          </p:cNvPr>
          <p:cNvCxnSpPr/>
          <p:nvPr/>
        </p:nvCxnSpPr>
        <p:spPr>
          <a:xfrm>
            <a:off x="6150346" y="447108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4BA0698-AFAA-7CA3-B210-8184D72DFDCD}"/>
              </a:ext>
            </a:extLst>
          </p:cNvPr>
          <p:cNvSpPr/>
          <p:nvPr/>
        </p:nvSpPr>
        <p:spPr>
          <a:xfrm>
            <a:off x="8353052" y="281213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Normalisation Layer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1D79033-323A-393D-BB68-1A1C1A8E8AC2}"/>
              </a:ext>
            </a:extLst>
          </p:cNvPr>
          <p:cNvSpPr/>
          <p:nvPr/>
        </p:nvSpPr>
        <p:spPr>
          <a:xfrm>
            <a:off x="8366898" y="3446166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Transformer Encoder Layer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166B6A7-0D69-5937-E76A-A99632D28FFC}"/>
              </a:ext>
            </a:extLst>
          </p:cNvPr>
          <p:cNvCxnSpPr/>
          <p:nvPr/>
        </p:nvCxnSpPr>
        <p:spPr>
          <a:xfrm>
            <a:off x="10022886" y="320302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FDF96BD6-BBC3-0D49-5D27-4C7772595CE6}"/>
              </a:ext>
            </a:extLst>
          </p:cNvPr>
          <p:cNvSpPr/>
          <p:nvPr/>
        </p:nvSpPr>
        <p:spPr>
          <a:xfrm>
            <a:off x="8353052" y="4087178"/>
            <a:ext cx="3339669" cy="39088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Normalisation Layer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8B9F724-6F7C-3A0A-D10F-23BAD1617CB5}"/>
              </a:ext>
            </a:extLst>
          </p:cNvPr>
          <p:cNvCxnSpPr/>
          <p:nvPr/>
        </p:nvCxnSpPr>
        <p:spPr>
          <a:xfrm>
            <a:off x="10034955" y="3844036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B0DEA59B-BF9F-C090-AEAF-893021AA6318}"/>
              </a:ext>
            </a:extLst>
          </p:cNvPr>
          <p:cNvSpPr/>
          <p:nvPr/>
        </p:nvSpPr>
        <p:spPr>
          <a:xfrm>
            <a:off x="8339526" y="4730630"/>
            <a:ext cx="3339669" cy="5676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 Fully Connected Layers – With Dropout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0733B53-8110-07EC-F79C-B9AC061B0AA4}"/>
              </a:ext>
            </a:extLst>
          </p:cNvPr>
          <p:cNvCxnSpPr/>
          <p:nvPr/>
        </p:nvCxnSpPr>
        <p:spPr>
          <a:xfrm>
            <a:off x="10045247" y="447108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89ED4A8-C41F-D523-4D93-3B183D749969}"/>
              </a:ext>
            </a:extLst>
          </p:cNvPr>
          <p:cNvCxnSpPr/>
          <p:nvPr/>
        </p:nvCxnSpPr>
        <p:spPr>
          <a:xfrm>
            <a:off x="6150346" y="2568994"/>
            <a:ext cx="0" cy="2431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6" name="Audio 95">
            <a:extLst>
              <a:ext uri="{FF2B5EF4-FFF2-40B4-BE49-F238E27FC236}">
                <a16:creationId xmlns:a16="http://schemas.microsoft.com/office/drawing/2014/main" id="{BDF47FAA-9010-1DEF-E5E5-44990D8898C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9925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53"/>
    </mc:Choice>
    <mc:Fallback>
      <p:transition spd="slow" advTm="171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8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6"/>
                </p:tgtEl>
              </p:cMediaNode>
            </p:audio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3" grpId="0" animBg="1"/>
      <p:bldP spid="49" grpId="0" animBg="1"/>
      <p:bldP spid="50" grpId="0" animBg="1"/>
      <p:bldP spid="51" grpId="0" animBg="1"/>
      <p:bldP spid="57" grpId="0" animBg="1"/>
      <p:bldP spid="58" grpId="0" animBg="1"/>
      <p:bldP spid="60" grpId="0" animBg="1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9BE5-26F3-642C-84A4-6918D591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E88A-6D3C-AE0A-2638-7370E502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32916"/>
            <a:ext cx="10691265" cy="789350"/>
          </a:xfrm>
        </p:spPr>
        <p:txBody>
          <a:bodyPr/>
          <a:lstStyle/>
          <a:p>
            <a:r>
              <a:rPr lang="en-GB" dirty="0"/>
              <a:t>Methods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AC3C7C-E4CA-EAFB-6446-3C4B8E3D68A1}"/>
              </a:ext>
            </a:extLst>
          </p:cNvPr>
          <p:cNvSpPr/>
          <p:nvPr/>
        </p:nvSpPr>
        <p:spPr>
          <a:xfrm>
            <a:off x="255980" y="1468770"/>
            <a:ext cx="3107008" cy="1822963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4202D6-4EA9-BE5C-AF18-B54125084D4F}"/>
              </a:ext>
            </a:extLst>
          </p:cNvPr>
          <p:cNvGrpSpPr/>
          <p:nvPr/>
        </p:nvGrpSpPr>
        <p:grpSpPr>
          <a:xfrm>
            <a:off x="389023" y="1597460"/>
            <a:ext cx="3107008" cy="1822963"/>
            <a:chOff x="232662" y="918693"/>
            <a:chExt cx="2093963" cy="1329666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29EC199-748F-FB1F-176F-FD616F9C407D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A6BC389C-F01D-5654-C34E-693F11C64795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Tokenization and Embeddings</a:t>
              </a:r>
              <a:endParaRPr lang="en-US" sz="2400" kern="1200" dirty="0"/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F0A264-249D-07DB-EA08-4EB317220B81}"/>
              </a:ext>
            </a:extLst>
          </p:cNvPr>
          <p:cNvSpPr/>
          <p:nvPr/>
        </p:nvSpPr>
        <p:spPr>
          <a:xfrm>
            <a:off x="4471249" y="1468770"/>
            <a:ext cx="3107008" cy="1822963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D8B757-55DD-2087-951B-2771AF23BE1E}"/>
              </a:ext>
            </a:extLst>
          </p:cNvPr>
          <p:cNvGrpSpPr/>
          <p:nvPr/>
        </p:nvGrpSpPr>
        <p:grpSpPr>
          <a:xfrm>
            <a:off x="4604292" y="1573385"/>
            <a:ext cx="3107008" cy="1822963"/>
            <a:chOff x="232662" y="918693"/>
            <a:chExt cx="2093963" cy="132966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C081D48-55BE-8C58-B711-401E12044FA1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918B55DD-C348-B8FB-493D-42948A295A07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Models</a:t>
              </a:r>
              <a:endParaRPr lang="en-US" kern="1200" dirty="0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1D9655-4336-680A-9994-80FD12A3A82F}"/>
              </a:ext>
            </a:extLst>
          </p:cNvPr>
          <p:cNvSpPr/>
          <p:nvPr/>
        </p:nvSpPr>
        <p:spPr>
          <a:xfrm>
            <a:off x="8562926" y="1483331"/>
            <a:ext cx="3107008" cy="1822963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8D8C42-726F-6F1C-01E3-9FBB9BC8A028}"/>
              </a:ext>
            </a:extLst>
          </p:cNvPr>
          <p:cNvGrpSpPr/>
          <p:nvPr/>
        </p:nvGrpSpPr>
        <p:grpSpPr>
          <a:xfrm>
            <a:off x="8695969" y="1606037"/>
            <a:ext cx="3107008" cy="1822963"/>
            <a:chOff x="232662" y="918693"/>
            <a:chExt cx="2093963" cy="1329666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B1852B2-3759-78EC-93A6-859A806F140D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15" name="Rounded Rectangle 5">
              <a:extLst>
                <a:ext uri="{FF2B5EF4-FFF2-40B4-BE49-F238E27FC236}">
                  <a16:creationId xmlns:a16="http://schemas.microsoft.com/office/drawing/2014/main" id="{E5C0D308-174A-CFCA-8723-77C95C8627A3}"/>
                </a:ext>
              </a:extLst>
            </p:cNvPr>
            <p:cNvSpPr txBox="1"/>
            <p:nvPr/>
          </p:nvSpPr>
          <p:spPr>
            <a:xfrm>
              <a:off x="271607" y="95763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Sentiment Prediction</a:t>
              </a:r>
              <a:endParaRPr lang="en-US" sz="2400" kern="1200" dirty="0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BBC83B-4919-72FB-6193-F3BFF083DB0B}"/>
              </a:ext>
            </a:extLst>
          </p:cNvPr>
          <p:cNvSpPr/>
          <p:nvPr/>
        </p:nvSpPr>
        <p:spPr>
          <a:xfrm>
            <a:off x="255981" y="3733791"/>
            <a:ext cx="3339669" cy="2198747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TF-IDF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FinBERT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CF620D4-0AFF-DEBC-7DA9-1218FB2A4E33}"/>
              </a:ext>
            </a:extLst>
          </p:cNvPr>
          <p:cNvSpPr/>
          <p:nvPr/>
        </p:nvSpPr>
        <p:spPr>
          <a:xfrm>
            <a:off x="4471249" y="3733791"/>
            <a:ext cx="3339670" cy="219874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Logistic 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MLP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LSTM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Transformer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C8F294F-D59B-3A88-BD40-8B2698E927FE}"/>
              </a:ext>
            </a:extLst>
          </p:cNvPr>
          <p:cNvSpPr/>
          <p:nvPr/>
        </p:nvSpPr>
        <p:spPr>
          <a:xfrm>
            <a:off x="8553475" y="3733790"/>
            <a:ext cx="3339670" cy="2198748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Multi-Class Classification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Probabilities of Each Sentiment Class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F25250-1B5F-BB3A-2E67-8DDB5C2055F6}"/>
              </a:ext>
            </a:extLst>
          </p:cNvPr>
          <p:cNvCxnSpPr>
            <a:cxnSpLocks/>
          </p:cNvCxnSpPr>
          <p:nvPr/>
        </p:nvCxnSpPr>
        <p:spPr>
          <a:xfrm>
            <a:off x="3664662" y="2441275"/>
            <a:ext cx="6744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DFBF77-2BE0-7226-2959-51635555CC07}"/>
              </a:ext>
            </a:extLst>
          </p:cNvPr>
          <p:cNvCxnSpPr>
            <a:cxnSpLocks/>
          </p:cNvCxnSpPr>
          <p:nvPr/>
        </p:nvCxnSpPr>
        <p:spPr>
          <a:xfrm>
            <a:off x="7810919" y="2441275"/>
            <a:ext cx="6744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4" name="Audio 23">
            <a:extLst>
              <a:ext uri="{FF2B5EF4-FFF2-40B4-BE49-F238E27FC236}">
                <a16:creationId xmlns:a16="http://schemas.microsoft.com/office/drawing/2014/main" id="{1264B30F-1E26-D1DF-17C9-73F88C26E6D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2419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08"/>
    </mc:Choice>
    <mc:Fallback>
      <p:transition spd="slow" advTm="177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99D00-8471-1D53-CA1D-3A4EAF60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43" y="759497"/>
            <a:ext cx="6283419" cy="708055"/>
          </a:xfrm>
        </p:spPr>
        <p:txBody>
          <a:bodyPr>
            <a:normAutofit/>
          </a:bodyPr>
          <a:lstStyle/>
          <a:p>
            <a:r>
              <a:rPr lang="en-GB" dirty="0"/>
              <a:t>Results + Conclusions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EDDB4C-6582-43D5-AF25-99F4AD3A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0CFF-15AA-6310-83B4-44E21C1CC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43" y="1519835"/>
            <a:ext cx="5682558" cy="131673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Complexity = Accuracy?</a:t>
            </a:r>
          </a:p>
          <a:p>
            <a:r>
              <a:rPr lang="en-GB" dirty="0"/>
              <a:t>Bias / Imbalance</a:t>
            </a:r>
          </a:p>
          <a:p>
            <a:r>
              <a:rPr lang="en-GB" dirty="0"/>
              <a:t>Training time &lt; Accuracy?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DBD5B9-C03F-0C2F-A69B-23E1EFEB3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991" y="848270"/>
            <a:ext cx="5682557" cy="5100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32AFC-FF62-4E81-D0B6-A743B8B4D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361" y="3135544"/>
            <a:ext cx="5829678" cy="281281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152A91-2920-4848-A8BC-B15DA32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1ABE71C0-E0C1-AA4D-3F12-D5544B133F92}"/>
              </a:ext>
            </a:extLst>
          </p:cNvPr>
          <p:cNvSpPr/>
          <p:nvPr/>
        </p:nvSpPr>
        <p:spPr>
          <a:xfrm>
            <a:off x="365428" y="3807167"/>
            <a:ext cx="5613011" cy="336208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2E985E9C-2E19-2423-5E7B-8223DBEC74CE}"/>
              </a:ext>
            </a:extLst>
          </p:cNvPr>
          <p:cNvSpPr/>
          <p:nvPr/>
        </p:nvSpPr>
        <p:spPr>
          <a:xfrm>
            <a:off x="418361" y="5541260"/>
            <a:ext cx="5613011" cy="336208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4" name="Audio 153">
            <a:extLst>
              <a:ext uri="{FF2B5EF4-FFF2-40B4-BE49-F238E27FC236}">
                <a16:creationId xmlns:a16="http://schemas.microsoft.com/office/drawing/2014/main" id="{EE348AA1-7B42-795D-5019-E9445BFAB16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5896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5260"/>
    </mc:Choice>
    <mc:Fallback>
      <p:transition spd="slow" advTm="145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4"/>
                </p:tgtEl>
              </p:cMediaNode>
            </p:audio>
          </p:childTnLst>
        </p:cTn>
      </p:par>
    </p:tnLst>
    <p:bldLst>
      <p:bldP spid="3" grpId="0" uiExpand="1" build="p"/>
      <p:bldP spid="114" grpId="0" animBg="1"/>
      <p:bldP spid="1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BB1D-B433-B2CA-DB48-D2D3C38C3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71942"/>
            <a:ext cx="10691265" cy="733245"/>
          </a:xfrm>
        </p:spPr>
        <p:txBody>
          <a:bodyPr/>
          <a:lstStyle/>
          <a:p>
            <a:r>
              <a:rPr lang="en-GB" dirty="0"/>
              <a:t>Limitations + Future Work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10D8DA-CC51-F7AD-5898-41D61BF44D6D}"/>
              </a:ext>
            </a:extLst>
          </p:cNvPr>
          <p:cNvSpPr/>
          <p:nvPr/>
        </p:nvSpPr>
        <p:spPr>
          <a:xfrm>
            <a:off x="4739836" y="1671049"/>
            <a:ext cx="2712327" cy="1640439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D64C63-D81F-3D7E-0068-F15CC1CFC22C}"/>
              </a:ext>
            </a:extLst>
          </p:cNvPr>
          <p:cNvGrpSpPr/>
          <p:nvPr/>
        </p:nvGrpSpPr>
        <p:grpSpPr>
          <a:xfrm>
            <a:off x="4856167" y="1788561"/>
            <a:ext cx="2712327" cy="1640439"/>
            <a:chOff x="232662" y="918693"/>
            <a:chExt cx="2093963" cy="1329666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D251BEB-BE74-1BA6-3E48-3E5D7041669A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40581238-1E9A-8321-8B74-8B0C14B8BFC2}"/>
                </a:ext>
              </a:extLst>
            </p:cNvPr>
            <p:cNvSpPr txBox="1"/>
            <p:nvPr/>
          </p:nvSpPr>
          <p:spPr>
            <a:xfrm>
              <a:off x="273903" y="976028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Single Training Run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EFE49B-1857-A294-7D20-D659C8E29A39}"/>
              </a:ext>
            </a:extLst>
          </p:cNvPr>
          <p:cNvSpPr/>
          <p:nvPr/>
        </p:nvSpPr>
        <p:spPr>
          <a:xfrm>
            <a:off x="8741453" y="1671049"/>
            <a:ext cx="2885793" cy="1640439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5A155C-0E86-EF7E-D8F1-B0974B79674E}"/>
              </a:ext>
            </a:extLst>
          </p:cNvPr>
          <p:cNvGrpSpPr/>
          <p:nvPr/>
        </p:nvGrpSpPr>
        <p:grpSpPr>
          <a:xfrm>
            <a:off x="8857784" y="1778805"/>
            <a:ext cx="2885793" cy="1640439"/>
            <a:chOff x="232662" y="918693"/>
            <a:chExt cx="2093963" cy="132966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F52CCD7-033B-F3CC-EDD8-E56ABB0AE344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B9BAACBB-18E4-DFA2-0BC8-A0A3041208C7}"/>
                </a:ext>
              </a:extLst>
            </p:cNvPr>
            <p:cNvSpPr txBox="1"/>
            <p:nvPr/>
          </p:nvSpPr>
          <p:spPr>
            <a:xfrm>
              <a:off x="232662" y="954762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Frozen FinBERT Embeddings</a:t>
              </a:r>
              <a:endParaRPr lang="en-US" sz="2400" kern="1200" dirty="0"/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F01ADDA-DF16-B739-2E06-B4781BB386C7}"/>
              </a:ext>
            </a:extLst>
          </p:cNvPr>
          <p:cNvSpPr/>
          <p:nvPr/>
        </p:nvSpPr>
        <p:spPr>
          <a:xfrm>
            <a:off x="482663" y="1671049"/>
            <a:ext cx="2885793" cy="1640439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 sz="16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788176-8621-A19A-D209-ECEC426EF112}"/>
              </a:ext>
            </a:extLst>
          </p:cNvPr>
          <p:cNvGrpSpPr/>
          <p:nvPr/>
        </p:nvGrpSpPr>
        <p:grpSpPr>
          <a:xfrm>
            <a:off x="598994" y="1778805"/>
            <a:ext cx="2885793" cy="1640439"/>
            <a:chOff x="232662" y="918693"/>
            <a:chExt cx="2093963" cy="1329666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88DFF565-3C77-93E4-DD16-CB9C7CCB677F}"/>
                </a:ext>
              </a:extLst>
            </p:cNvPr>
            <p:cNvSpPr/>
            <p:nvPr/>
          </p:nvSpPr>
          <p:spPr>
            <a:xfrm>
              <a:off x="232662" y="918693"/>
              <a:ext cx="2093963" cy="13296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 sz="1600"/>
            </a:p>
          </p:txBody>
        </p:sp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553626D0-5D3D-CCE8-F082-3E72F7489DCD}"/>
                </a:ext>
              </a:extLst>
            </p:cNvPr>
            <p:cNvSpPr txBox="1"/>
            <p:nvPr/>
          </p:nvSpPr>
          <p:spPr>
            <a:xfrm>
              <a:off x="232662" y="954762"/>
              <a:ext cx="2016073" cy="12517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Dataset Imbalance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AF5A3A-F075-7883-F9C6-71DA7E4AE2F2}"/>
              </a:ext>
            </a:extLst>
          </p:cNvPr>
          <p:cNvCxnSpPr/>
          <p:nvPr/>
        </p:nvCxnSpPr>
        <p:spPr>
          <a:xfrm>
            <a:off x="1940942" y="3554083"/>
            <a:ext cx="0" cy="6901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3F1019-41DD-055D-2A13-034266ABB1CD}"/>
              </a:ext>
            </a:extLst>
          </p:cNvPr>
          <p:cNvCxnSpPr/>
          <p:nvPr/>
        </p:nvCxnSpPr>
        <p:spPr>
          <a:xfrm>
            <a:off x="6165009" y="3554083"/>
            <a:ext cx="0" cy="6901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A82907-4124-EB39-0A4F-580C5FE77560}"/>
              </a:ext>
            </a:extLst>
          </p:cNvPr>
          <p:cNvCxnSpPr/>
          <p:nvPr/>
        </p:nvCxnSpPr>
        <p:spPr>
          <a:xfrm>
            <a:off x="10268307" y="3554083"/>
            <a:ext cx="0" cy="6901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6B5108A-2F6F-85AE-6C65-DFEB30560F87}"/>
              </a:ext>
            </a:extLst>
          </p:cNvPr>
          <p:cNvSpPr/>
          <p:nvPr/>
        </p:nvSpPr>
        <p:spPr>
          <a:xfrm>
            <a:off x="482663" y="4379037"/>
            <a:ext cx="3002124" cy="1395044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Data Augmentation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8095082-B0EE-0D3C-6CAE-FB42D06E74AB}"/>
              </a:ext>
            </a:extLst>
          </p:cNvPr>
          <p:cNvSpPr/>
          <p:nvPr/>
        </p:nvSpPr>
        <p:spPr>
          <a:xfrm>
            <a:off x="4697930" y="4379036"/>
            <a:ext cx="3002125" cy="1395045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 Multiple Runs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46E35C1-163B-EFD8-5315-5747BD8C0F33}"/>
              </a:ext>
            </a:extLst>
          </p:cNvPr>
          <p:cNvSpPr/>
          <p:nvPr/>
        </p:nvSpPr>
        <p:spPr>
          <a:xfrm>
            <a:off x="8780156" y="4379035"/>
            <a:ext cx="3002125" cy="1395045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Fine-tune FinBERT</a:t>
            </a:r>
          </a:p>
        </p:txBody>
      </p:sp>
      <p:pic>
        <p:nvPicPr>
          <p:cNvPr id="84" name="Audio 83">
            <a:extLst>
              <a:ext uri="{FF2B5EF4-FFF2-40B4-BE49-F238E27FC236}">
                <a16:creationId xmlns:a16="http://schemas.microsoft.com/office/drawing/2014/main" id="{D0541B07-3227-07F8-D924-C96A5149B63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0193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605"/>
    </mc:Choice>
    <mc:Fallback>
      <p:transition spd="slow" advTm="61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4"/>
                </p:tgtEl>
              </p:cMediaNode>
            </p:audio>
          </p:childTnLst>
        </p:cTn>
      </p:par>
    </p:tnLst>
    <p:bldLst>
      <p:bldP spid="4" grpId="0" animBg="1"/>
      <p:bldP spid="8" grpId="0" animBg="1"/>
      <p:bldP spid="16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35F4-94DB-9660-5E77-0472761E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84055"/>
          </a:xfrm>
        </p:spPr>
        <p:txBody>
          <a:bodyPr>
            <a:normAutofit fontScale="90000"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2A1F-AC48-F382-0F9F-5943D39DF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98455"/>
            <a:ext cx="10790730" cy="436343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[1] </a:t>
            </a:r>
            <a:r>
              <a:rPr lang="en-GB" dirty="0" err="1"/>
              <a:t>Vecteezy</a:t>
            </a:r>
            <a:r>
              <a:rPr lang="en-GB" dirty="0"/>
              <a:t>, ‘Stock Graph’, </a:t>
            </a:r>
            <a:r>
              <a:rPr lang="en-GB" i="1" dirty="0" err="1"/>
              <a:t>Vecteezy</a:t>
            </a:r>
            <a:r>
              <a:rPr lang="en-GB" dirty="0"/>
              <a:t>, 2025. [Online]. Available: https://</a:t>
            </a:r>
            <a:r>
              <a:rPr lang="en-GB" dirty="0" err="1"/>
              <a:t>www.vecteezy.com</a:t>
            </a:r>
            <a:r>
              <a:rPr lang="en-GB" dirty="0"/>
              <a:t>/vector-art/27477384-stock-graph-technology-background-it-is-a-technology-that-shows-the-growth-price-of-a-company-on-the-stock-market-increasing-the-attractiveness-of-investors-green-and-red-charts-along-with-bars. [Accessed: 11-Nov-2025]</a:t>
            </a:r>
          </a:p>
          <a:p>
            <a:pPr marL="0" indent="0">
              <a:buNone/>
            </a:pPr>
            <a:r>
              <a:rPr lang="en-GB" dirty="0"/>
              <a:t>[2] ‘Home - Financial Times’, </a:t>
            </a:r>
            <a:r>
              <a:rPr lang="en-GB" i="1" dirty="0"/>
              <a:t>Financial Times </a:t>
            </a:r>
            <a:r>
              <a:rPr lang="en-GB" dirty="0"/>
              <a:t>[Online]. Available: </a:t>
            </a:r>
            <a:r>
              <a:rPr lang="en-GB" dirty="0">
                <a:hlinkClick r:id="rId2"/>
              </a:rPr>
              <a:t>https://www.ft.com/</a:t>
            </a:r>
            <a:r>
              <a:rPr lang="en-GB" dirty="0"/>
              <a:t> [Accessed: 11-Nov-2025]</a:t>
            </a:r>
          </a:p>
          <a:p>
            <a:pPr marL="0" indent="0">
              <a:buNone/>
            </a:pPr>
            <a:r>
              <a:rPr lang="en-GB" dirty="0"/>
              <a:t>[3] L. </a:t>
            </a:r>
            <a:r>
              <a:rPr lang="en-GB" dirty="0" err="1"/>
              <a:t>Calarte</a:t>
            </a:r>
            <a:r>
              <a:rPr lang="en-GB" dirty="0"/>
              <a:t>, ‘</a:t>
            </a:r>
            <a:r>
              <a:rPr lang="en-GB" dirty="0" err="1"/>
              <a:t>English_Finance_News</a:t>
            </a:r>
            <a:r>
              <a:rPr lang="en-GB" dirty="0"/>
              <a:t>’, </a:t>
            </a:r>
            <a:r>
              <a:rPr lang="en-GB" i="1" dirty="0" err="1"/>
              <a:t>Huggingface.co</a:t>
            </a:r>
            <a:r>
              <a:rPr lang="en-GB" dirty="0"/>
              <a:t>, 2023. [Online]. Available: https://</a:t>
            </a:r>
            <a:r>
              <a:rPr lang="en-GB" dirty="0" err="1"/>
              <a:t>huggingface.co</a:t>
            </a:r>
            <a:r>
              <a:rPr lang="en-GB" dirty="0"/>
              <a:t>/datasets/</a:t>
            </a:r>
            <a:r>
              <a:rPr lang="en-GB" dirty="0" err="1"/>
              <a:t>lukecarlate</a:t>
            </a:r>
            <a:r>
              <a:rPr lang="en-GB" dirty="0"/>
              <a:t>/</a:t>
            </a:r>
            <a:r>
              <a:rPr lang="en-GB" dirty="0" err="1"/>
              <a:t>english_finance_news</a:t>
            </a:r>
            <a:r>
              <a:rPr lang="en-GB" dirty="0"/>
              <a:t>. [Accessed: 10-Oct-2025].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2404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33.1|12.1|19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7.3|7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2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5.5|2.5|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|0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4.5|30.3|1.7|51.4|16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37.8"/>
</p:tagLst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7279</TotalTime>
  <Words>1431</Words>
  <Application>Microsoft Macintosh PowerPoint</Application>
  <PresentationFormat>Widescreen</PresentationFormat>
  <Paragraphs>196</Paragraphs>
  <Slides>9</Slides>
  <Notes>8</Notes>
  <HiddenSlides>0</HiddenSlides>
  <MMClips>8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Calisto MT</vt:lpstr>
      <vt:lpstr>Helvetica Neue</vt:lpstr>
      <vt:lpstr>Univers Condensed</vt:lpstr>
      <vt:lpstr>ChronicleVTI</vt:lpstr>
      <vt:lpstr>Neural Architectures in Financial News sentiment Analysis</vt:lpstr>
      <vt:lpstr>Background</vt:lpstr>
      <vt:lpstr>Dataset</vt:lpstr>
      <vt:lpstr>Methods</vt:lpstr>
      <vt:lpstr>Models</vt:lpstr>
      <vt:lpstr>Methods</vt:lpstr>
      <vt:lpstr>Results + Conclusions</vt:lpstr>
      <vt:lpstr>Limitations +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Le Grice</dc:creator>
  <cp:lastModifiedBy>Josh Le Grice</cp:lastModifiedBy>
  <cp:revision>12</cp:revision>
  <dcterms:created xsi:type="dcterms:W3CDTF">2025-11-11T10:35:57Z</dcterms:created>
  <dcterms:modified xsi:type="dcterms:W3CDTF">2025-11-17T09:38:19Z</dcterms:modified>
</cp:coreProperties>
</file>